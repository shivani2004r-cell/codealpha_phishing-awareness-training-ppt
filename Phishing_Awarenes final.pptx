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  <p:sldId id="267" r:id="rId13"/>
    <p:sldId id="269" r:id="rId14"/>
    <p:sldId id="268" r:id="rId15"/>
    <p:sldId id="271" r:id="rId16"/>
    <p:sldId id="270" r:id="rId17"/>
    <p:sldId id="273" r:id="rId18"/>
    <p:sldId id="272" r:id="rId1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58E4D5-E878-469B-8E68-A958C7FA0EE6}" v="54" dt="2026-07-09T10:27:36.2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mazon.com/" TargetMode="Externa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000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" y="169115"/>
            <a:ext cx="462703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Phishing Awareness Training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05840"/>
            <a:ext cx="10972800" cy="5120640"/>
          </a:xfrm>
          <a:prstGeom prst="roundRect">
            <a:avLst/>
          </a:prstGeom>
          <a:solidFill>
            <a:srgbClr val="F5F8FC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946831" y="1721805"/>
            <a:ext cx="10139571" cy="16004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Understanding, Identifying, and Preventing Phishing Attacks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endParaRPr lang="en-IN" dirty="0"/>
          </a:p>
          <a:p>
            <a:pPr>
              <a:defRPr sz="2200">
                <a:solidFill>
                  <a:srgbClr val="282828"/>
                </a:solidFill>
              </a:defRPr>
            </a:pPr>
            <a:endParaRPr lang="en-IN" dirty="0"/>
          </a:p>
          <a:p>
            <a:pPr>
              <a:defRPr sz="2200">
                <a:solidFill>
                  <a:srgbClr val="282828"/>
                </a:solidFill>
              </a:defRPr>
            </a:pPr>
            <a:r>
              <a:rPr lang="en-IN" dirty="0"/>
              <a:t>                                                     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 Shivani Rajora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3093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C7FA0D-172A-962A-8EF6-3EDDCF43B4D2}"/>
              </a:ext>
            </a:extLst>
          </p:cNvPr>
          <p:cNvSpPr txBox="1"/>
          <p:nvPr/>
        </p:nvSpPr>
        <p:spPr>
          <a:xfrm>
            <a:off x="4659040" y="3999385"/>
            <a:ext cx="27151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Internship:  </a:t>
            </a:r>
            <a:r>
              <a:rPr lang="en-IN" dirty="0" err="1"/>
              <a:t>CodeAlpha</a:t>
            </a:r>
            <a:endParaRPr lang="en-IN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4400"/>
            <a:ext cx="12188952" cy="6000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124320"/>
            <a:ext cx="136287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05840"/>
            <a:ext cx="10972800" cy="5120640"/>
          </a:xfrm>
          <a:prstGeom prst="roundRect">
            <a:avLst/>
          </a:prstGeom>
          <a:solidFill>
            <a:srgbClr val="F5F8FC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buFont typeface="+mj-lt"/>
              <a:buAutoNum type="arabicPeriod"/>
            </a:pP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93060" y="1508939"/>
            <a:ext cx="580103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  <a:defRPr sz="2200">
                <a:solidFill>
                  <a:srgbClr val="282828"/>
                </a:solidFill>
              </a:defRPr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Introduction to Phishing </a:t>
            </a:r>
          </a:p>
          <a:p>
            <a:pPr marL="285750" indent="-285750">
              <a:buFont typeface="Wingdings" panose="05000000000000000000" pitchFamily="2" charset="2"/>
              <a:buChar char="§"/>
              <a:defRPr sz="2200">
                <a:solidFill>
                  <a:srgbClr val="282828"/>
                </a:solidFill>
              </a:defRPr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Types of Phishing Attacks  </a:t>
            </a:r>
          </a:p>
          <a:p>
            <a:pPr marL="285750" indent="-285750">
              <a:buFont typeface="Wingdings" panose="05000000000000000000" pitchFamily="2" charset="2"/>
              <a:buChar char="§"/>
              <a:defRPr sz="2200">
                <a:solidFill>
                  <a:srgbClr val="282828"/>
                </a:solidFill>
              </a:defRPr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Recognizing Phishing Emails</a:t>
            </a:r>
          </a:p>
          <a:p>
            <a:pPr marL="285750" indent="-285750">
              <a:buFont typeface="Wingdings" panose="05000000000000000000" pitchFamily="2" charset="2"/>
              <a:buChar char="§"/>
              <a:defRPr sz="2200">
                <a:solidFill>
                  <a:srgbClr val="282828"/>
                </a:solidFill>
              </a:defRPr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Identifying Fake Websites </a:t>
            </a:r>
          </a:p>
          <a:p>
            <a:pPr marL="285750" indent="-285750">
              <a:buFont typeface="Wingdings" panose="05000000000000000000" pitchFamily="2" charset="2"/>
              <a:buChar char="§"/>
              <a:defRPr sz="2200">
                <a:solidFill>
                  <a:srgbClr val="282828"/>
                </a:solidFill>
              </a:defRPr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Social Engineering Techniques</a:t>
            </a:r>
          </a:p>
          <a:p>
            <a:pPr marL="285750" indent="-285750">
              <a:buFont typeface="Wingdings" panose="05000000000000000000" pitchFamily="2" charset="2"/>
              <a:buChar char="§"/>
              <a:defRPr sz="2200">
                <a:solidFill>
                  <a:srgbClr val="282828"/>
                </a:solidFill>
              </a:defRPr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Real-World Examples </a:t>
            </a:r>
          </a:p>
          <a:p>
            <a:pPr marL="285750" indent="-285750">
              <a:buFont typeface="Wingdings" panose="05000000000000000000" pitchFamily="2" charset="2"/>
              <a:buChar char="§"/>
              <a:defRPr sz="2200">
                <a:solidFill>
                  <a:srgbClr val="282828"/>
                </a:solidFill>
              </a:defRPr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Best Practices for Prevention </a:t>
            </a:r>
          </a:p>
          <a:p>
            <a:pPr marL="285750" indent="-285750">
              <a:buFont typeface="Wingdings" panose="05000000000000000000" pitchFamily="2" charset="2"/>
              <a:buChar char="§"/>
              <a:defRPr sz="2200">
                <a:solidFill>
                  <a:srgbClr val="282828"/>
                </a:solidFill>
              </a:defRPr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Interactive Quiz         </a:t>
            </a:r>
          </a:p>
          <a:p>
            <a:pPr marL="285750" indent="-285750">
              <a:buFont typeface="Wingdings" panose="05000000000000000000" pitchFamily="2" charset="2"/>
              <a:buChar char="§"/>
              <a:defRPr sz="2200">
                <a:solidFill>
                  <a:srgbClr val="282828"/>
                </a:solidFill>
              </a:defRPr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Summary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789920" y="63093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>
                <a:solidFill>
                  <a:srgbClr val="FFFFFF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000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109414"/>
            <a:ext cx="296747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Phishing</a:t>
            </a:r>
            <a:r>
              <a:rPr dirty="0"/>
              <a:t>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05840"/>
            <a:ext cx="10972800" cy="5120640"/>
          </a:xfrm>
          <a:prstGeom prst="roundRect">
            <a:avLst/>
          </a:prstGeom>
          <a:solidFill>
            <a:srgbClr val="F5F8FC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10471355" cy="4862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Phishing is a cyberattack where attackers pretend to be trusted organizations or individuals to trick people into revealing sensitive information.</a:t>
            </a:r>
          </a:p>
          <a:p>
            <a:r>
              <a:rPr lang="en-IN" sz="1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Attackers Target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Usernames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Passwords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Banking Information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Credit Card Numbers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OTPs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 Data </a:t>
            </a:r>
          </a:p>
          <a:p>
            <a:r>
              <a:rPr lang="en-IN" sz="1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Communication Channels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SMS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Phone Calls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Media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Fake Websites </a:t>
            </a:r>
          </a:p>
          <a:p>
            <a:r>
              <a:rPr lang="en-IN" sz="1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endParaRPr lang="en-IN" sz="16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"Your bank account has been suspended. Click here to verify your account."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10789920" y="63093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>
                <a:solidFill>
                  <a:srgbClr val="FFFFFF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000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Phishing Works</a:t>
            </a:r>
            <a:endParaRPr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40080" y="1005840"/>
            <a:ext cx="10972800" cy="5120640"/>
          </a:xfrm>
          <a:prstGeom prst="roundRect">
            <a:avLst/>
          </a:prstGeom>
          <a:solidFill>
            <a:srgbClr val="F5F8FC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36407" y="1150114"/>
            <a:ext cx="502920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Attacker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│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▼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Creates Fake Email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│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▼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Victim Receives Email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│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▼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Clicks Fake Link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│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▼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Fake Login Website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│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▼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Victim Enters Password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│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▼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Attacker Steals Credentials                         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200">
                <a:solidFill>
                  <a:srgbClr val="282828"/>
                </a:solidFill>
              </a:defRPr>
            </a:pP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200">
                <a:solidFill>
                  <a:srgbClr val="282828"/>
                </a:solidFill>
              </a:defRPr>
            </a:pP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200">
                <a:solidFill>
                  <a:srgbClr val="282828"/>
                </a:solidFill>
              </a:defRPr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Attackers rely on trust, urgency, and fear—not technical hacking.</a:t>
            </a:r>
            <a:endParaRPr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789920" y="63093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>
                <a:solidFill>
                  <a:srgbClr val="FFFFFF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000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142800"/>
            <a:ext cx="238174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Fake Websites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05840"/>
            <a:ext cx="10972800" cy="5120640"/>
          </a:xfrm>
          <a:prstGeom prst="roundRect">
            <a:avLst/>
          </a:prstGeom>
          <a:solidFill>
            <a:srgbClr val="F5F8FC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3852850" cy="273998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rPr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for:</a:t>
            </a:r>
            <a:endParaRPr lang="en-IN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200">
                <a:solidFill>
                  <a:srgbClr val="282828"/>
                </a:solidFill>
              </a:defRPr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defRPr sz="2200">
                <a:solidFill>
                  <a:srgbClr val="282828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</a:t>
            </a:r>
          </a:p>
          <a:p>
            <a:pPr>
              <a:lnSpc>
                <a:spcPct val="150000"/>
              </a:lnSpc>
              <a:defRPr sz="2200">
                <a:solidFill>
                  <a:srgbClr val="282828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Verify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 domain spelling</a:t>
            </a:r>
          </a:p>
          <a:p>
            <a:pPr>
              <a:lnSpc>
                <a:spcPct val="150000"/>
              </a:lnSpc>
              <a:defRPr sz="2200">
                <a:solidFill>
                  <a:srgbClr val="282828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Lock icon</a:t>
            </a:r>
          </a:p>
          <a:p>
            <a:pPr>
              <a:lnSpc>
                <a:spcPct val="150000"/>
              </a:lnSpc>
              <a:defRPr sz="2200">
                <a:solidFill>
                  <a:srgbClr val="282828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Professional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3093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>
                <a:solidFill>
                  <a:srgbClr val="FFFFFF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27" y="14400"/>
            <a:ext cx="12188952" cy="6000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182620"/>
            <a:ext cx="289271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Phishing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40080" y="1005840"/>
            <a:ext cx="10972800" cy="5120640"/>
          </a:xfrm>
          <a:prstGeom prst="roundRect">
            <a:avLst/>
          </a:prstGeom>
          <a:solidFill>
            <a:srgbClr val="F5F8FC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24232" y="1308013"/>
            <a:ext cx="9006349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Types of Phishing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Email Phishing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Fake emails pretending to be from banks, Amazon, Microsoft, etc.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2)Spear Phishing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attacks targeting specific individuals.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3)Whaling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Targets CEOs and senior executives.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4)Smishing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Phishing through SMS messages.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5)Vishing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Phishing through phone calls.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6)Social Media Phishing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Fake profiles and messages on Facebook, Instagram, LinkedIn, etc.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3093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>
                <a:solidFill>
                  <a:srgbClr val="FFFFFF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000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331687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n-IN" dirty="0"/>
              <a:t>How Phishing Works 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640080" y="1005840"/>
            <a:ext cx="10972800" cy="5120640"/>
          </a:xfrm>
          <a:prstGeom prst="roundRect">
            <a:avLst/>
          </a:prstGeom>
          <a:solidFill>
            <a:srgbClr val="F5F8FC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4751494" cy="378885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/>
              <a:t>Phishing Attack Process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/>
              <a:t>Attacker creates a fake email or website.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/>
              <a:t>Victim receives the message.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/>
              <a:t>Victim clicks the malicious link.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/>
              <a:t>Victim enters login credentials.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/>
              <a:t>Credentials are sent to the attacker.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/>
              <a:t>Attacker gains unauthorized access.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IN" dirty="0"/>
          </a:p>
          <a:p>
            <a:pPr>
              <a:lnSpc>
                <a:spcPct val="150000"/>
              </a:lnSpc>
            </a:pPr>
            <a:r>
              <a:rPr lang="en-IN" b="1" dirty="0"/>
              <a:t>Result:</a:t>
            </a:r>
            <a:r>
              <a:rPr lang="en-IN" dirty="0"/>
              <a:t> Data theft, financial loss, or identity theft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3093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>
                <a:solidFill>
                  <a:srgbClr val="FFFFFF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000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Recognizing Phishing Emails</a:t>
            </a:r>
            <a:endParaRPr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85830" y="1005840"/>
            <a:ext cx="10972800" cy="5120640"/>
          </a:xfrm>
          <a:prstGeom prst="roundRect">
            <a:avLst/>
          </a:prstGeom>
          <a:solidFill>
            <a:srgbClr val="F5F8FC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10789920" y="63093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>
                <a:solidFill>
                  <a:srgbClr val="FFFFFF"/>
                </a:solidFill>
              </a:defRPr>
            </a:pPr>
            <a:r>
              <a:rPr dirty="0"/>
              <a:t>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DDB1BB-54EA-1572-D4CF-19826494620D}"/>
              </a:ext>
            </a:extLst>
          </p:cNvPr>
          <p:cNvSpPr txBox="1"/>
          <p:nvPr/>
        </p:nvSpPr>
        <p:spPr>
          <a:xfrm>
            <a:off x="727585" y="1096253"/>
            <a:ext cx="8504903" cy="49398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Warning Signs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Unknown sender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Urgent or threatening language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Spelling and grammar mistakes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Suspicious links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Unexpected attachments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Requests for passwords or OTPs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Generic greetings like "Dear Customer"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❌ Your account will be suspended. Click here immediately.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8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053E51-A9A6-77F0-5ECB-03CD09AFB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A9D0D57-0403-628A-D7AA-E0F445615174}"/>
              </a:ext>
            </a:extLst>
          </p:cNvPr>
          <p:cNvSpPr/>
          <p:nvPr/>
        </p:nvSpPr>
        <p:spPr>
          <a:xfrm>
            <a:off x="0" y="0"/>
            <a:ext cx="12188952" cy="6000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Recognizing Fake Websites</a:t>
            </a:r>
            <a:endParaRPr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FFED853-90DF-BD65-66B6-B3DF2886CD1F}"/>
              </a:ext>
            </a:extLst>
          </p:cNvPr>
          <p:cNvSpPr/>
          <p:nvPr/>
        </p:nvSpPr>
        <p:spPr>
          <a:xfrm>
            <a:off x="640080" y="1005840"/>
            <a:ext cx="10972800" cy="5120640"/>
          </a:xfrm>
          <a:prstGeom prst="roundRect">
            <a:avLst/>
          </a:prstGeom>
          <a:solidFill>
            <a:srgbClr val="F5F8FC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1F9938-0025-134A-A97C-588677DB0110}"/>
              </a:ext>
            </a:extLst>
          </p:cNvPr>
          <p:cNvSpPr txBox="1"/>
          <p:nvPr/>
        </p:nvSpPr>
        <p:spPr>
          <a:xfrm>
            <a:off x="11402634" y="6309360"/>
            <a:ext cx="30168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>
                <a:solidFill>
                  <a:srgbClr val="FFFFFF"/>
                </a:solidFill>
              </a:defRPr>
            </a:pPr>
            <a:r>
              <a:rPr lang="en-IN" dirty="0"/>
              <a:t>9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4932B2-92E9-4454-5D21-9C7E1E2E941E}"/>
              </a:ext>
            </a:extLst>
          </p:cNvPr>
          <p:cNvSpPr txBox="1"/>
          <p:nvPr/>
        </p:nvSpPr>
        <p:spPr>
          <a:xfrm>
            <a:off x="1238864" y="1117733"/>
            <a:ext cx="7678993" cy="48968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Identify Fake Websites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the website URL carefully.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https://www.amazon.com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❌ https://amazon-login-security.com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Look for: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 spelling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Company logo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Contact information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 certificates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Never trust a website only because it has a lock icon.</a:t>
            </a:r>
          </a:p>
        </p:txBody>
      </p:sp>
    </p:spTree>
    <p:extLst>
      <p:ext uri="{BB962C8B-B14F-4D97-AF65-F5344CB8AC3E}">
        <p14:creationId xmlns:p14="http://schemas.microsoft.com/office/powerpoint/2010/main" val="1797561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8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683319-E07D-74B8-8EC6-A2E857210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1D91473-D63C-DC7B-A454-7BC41ABA832D}"/>
              </a:ext>
            </a:extLst>
          </p:cNvPr>
          <p:cNvSpPr/>
          <p:nvPr/>
        </p:nvSpPr>
        <p:spPr>
          <a:xfrm>
            <a:off x="0" y="0"/>
            <a:ext cx="12188952" cy="6000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Engineering Tactics</a:t>
            </a:r>
            <a:endParaRPr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0B7B5EC-91BE-FA1F-D9B1-E66EDFBF407D}"/>
              </a:ext>
            </a:extLst>
          </p:cNvPr>
          <p:cNvSpPr/>
          <p:nvPr/>
        </p:nvSpPr>
        <p:spPr>
          <a:xfrm>
            <a:off x="640080" y="1005840"/>
            <a:ext cx="10972800" cy="5120640"/>
          </a:xfrm>
          <a:prstGeom prst="roundRect">
            <a:avLst/>
          </a:prstGeom>
          <a:solidFill>
            <a:srgbClr val="F5F8FC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6223D6-ABD1-7931-1D2D-3F8D471A4DCB}"/>
              </a:ext>
            </a:extLst>
          </p:cNvPr>
          <p:cNvSpPr txBox="1"/>
          <p:nvPr/>
        </p:nvSpPr>
        <p:spPr>
          <a:xfrm>
            <a:off x="11295448" y="6309360"/>
            <a:ext cx="41870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>
                <a:solidFill>
                  <a:srgbClr val="FFFFFF"/>
                </a:solidFill>
              </a:defRPr>
            </a:pPr>
            <a:r>
              <a:rPr lang="en-IN" dirty="0"/>
              <a:t>10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B72910-D907-03C4-6E1F-73E949642D15}"/>
              </a:ext>
            </a:extLst>
          </p:cNvPr>
          <p:cNvSpPr txBox="1"/>
          <p:nvPr/>
        </p:nvSpPr>
        <p:spPr>
          <a:xfrm>
            <a:off x="1022554" y="1165503"/>
            <a:ext cx="6499123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Techniques Used by Attackers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Impersonation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Pretending to be your manager or IT support.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Pretexting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Creating a fake story to gain trust.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Baiting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Offering free software or USB drives.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Scareware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Showing fake virus warnings.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Quid Pro Quo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Offering help in exchange for confidential information.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301216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8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40D56E-F17C-5D82-BCA4-9CA8CC7A8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0AD8964-6660-D0DA-DE32-BEAAD8A7974B}"/>
              </a:ext>
            </a:extLst>
          </p:cNvPr>
          <p:cNvSpPr/>
          <p:nvPr/>
        </p:nvSpPr>
        <p:spPr>
          <a:xfrm>
            <a:off x="0" y="0"/>
            <a:ext cx="12188952" cy="6000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Examples</a:t>
            </a:r>
            <a:endParaRPr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1ADAA6C-CEE0-9A28-9CDB-B5E2794E488E}"/>
              </a:ext>
            </a:extLst>
          </p:cNvPr>
          <p:cNvSpPr/>
          <p:nvPr/>
        </p:nvSpPr>
        <p:spPr>
          <a:xfrm>
            <a:off x="353128" y="1075223"/>
            <a:ext cx="10972800" cy="5120640"/>
          </a:xfrm>
          <a:prstGeom prst="roundRect">
            <a:avLst>
              <a:gd name="adj" fmla="val 16091"/>
            </a:avLst>
          </a:prstGeom>
          <a:solidFill>
            <a:srgbClr val="F5F8FC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2BF694-EB68-B27E-2FF1-3E6BC728B101}"/>
              </a:ext>
            </a:extLst>
          </p:cNvPr>
          <p:cNvSpPr txBox="1"/>
          <p:nvPr/>
        </p:nvSpPr>
        <p:spPr>
          <a:xfrm>
            <a:off x="11285616" y="6309360"/>
            <a:ext cx="41870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>
                <a:solidFill>
                  <a:srgbClr val="FFFFFF"/>
                </a:solidFill>
              </a:defRPr>
            </a:pPr>
            <a:r>
              <a:rPr lang="en-IN" dirty="0"/>
              <a:t>11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F6BD2F-7F4D-A349-38D6-4F484803EC4D}"/>
              </a:ext>
            </a:extLst>
          </p:cNvPr>
          <p:cNvSpPr txBox="1"/>
          <p:nvPr/>
        </p:nvSpPr>
        <p:spPr>
          <a:xfrm>
            <a:off x="1003874" y="1373385"/>
            <a:ext cx="674394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1: Bank Phishing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"Your SBI account has been blocked. Verify immediately."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Victim clicks the link.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Victim enters banking credentials.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Attacker steals money.</a:t>
            </a:r>
          </a:p>
          <a:p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2: Delivery Scam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SMS: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"Your parcel delivery failed. Pay ₹50 to reschedule."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Victim enters debit card details.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Money gets stolen.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863038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8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07EA62-5E5F-1FD0-1E86-FAC3C56AC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7422DDF-74A7-09CA-C6DA-EF539AC2F52C}"/>
              </a:ext>
            </a:extLst>
          </p:cNvPr>
          <p:cNvSpPr/>
          <p:nvPr/>
        </p:nvSpPr>
        <p:spPr>
          <a:xfrm>
            <a:off x="0" y="0"/>
            <a:ext cx="12188952" cy="6000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Practices</a:t>
            </a:r>
            <a:endParaRPr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073A3E5-ED79-ECCA-1ABF-5414359B7262}"/>
              </a:ext>
            </a:extLst>
          </p:cNvPr>
          <p:cNvSpPr/>
          <p:nvPr/>
        </p:nvSpPr>
        <p:spPr>
          <a:xfrm>
            <a:off x="640080" y="1005840"/>
            <a:ext cx="10972800" cy="5120640"/>
          </a:xfrm>
          <a:prstGeom prst="roundRect">
            <a:avLst/>
          </a:prstGeom>
          <a:solidFill>
            <a:srgbClr val="F5F8FC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2AB983-01B8-CE10-E062-EEF9AA3B2644}"/>
              </a:ext>
            </a:extLst>
          </p:cNvPr>
          <p:cNvSpPr txBox="1"/>
          <p:nvPr/>
        </p:nvSpPr>
        <p:spPr>
          <a:xfrm>
            <a:off x="11285616" y="6309360"/>
            <a:ext cx="41870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>
                <a:solidFill>
                  <a:srgbClr val="FFFFFF"/>
                </a:solidFill>
              </a:defRPr>
            </a:pPr>
            <a:r>
              <a:rPr lang="en-IN" dirty="0"/>
              <a:t>12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0ACDBD-D575-BBFF-DB98-2B8B9EDE362F}"/>
              </a:ext>
            </a:extLst>
          </p:cNvPr>
          <p:cNvSpPr txBox="1"/>
          <p:nvPr/>
        </p:nvSpPr>
        <p:spPr>
          <a:xfrm>
            <a:off x="1258529" y="1234752"/>
            <a:ext cx="4336025" cy="43858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Stay Safe from Phishing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Always: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Verify the sender's email address.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Hover over links before clicking.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Multi-Factor Authentication (MFA).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strong passwords.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software regularly.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Install antivirus software.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Never share OTPs.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 suspicious emails immediately.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751315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8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45583C-0A90-0317-F323-F113B7012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47FDFF1-9AE1-4068-6061-4F250FDCB70D}"/>
              </a:ext>
            </a:extLst>
          </p:cNvPr>
          <p:cNvSpPr/>
          <p:nvPr/>
        </p:nvSpPr>
        <p:spPr>
          <a:xfrm>
            <a:off x="0" y="0"/>
            <a:ext cx="12188952" cy="6000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To Do If You Are Phished</a:t>
            </a:r>
            <a:endParaRPr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DF06B2A-FF08-2555-8F98-881E743D4526}"/>
              </a:ext>
            </a:extLst>
          </p:cNvPr>
          <p:cNvSpPr/>
          <p:nvPr/>
        </p:nvSpPr>
        <p:spPr>
          <a:xfrm>
            <a:off x="640080" y="1005840"/>
            <a:ext cx="10972800" cy="5120640"/>
          </a:xfrm>
          <a:prstGeom prst="roundRect">
            <a:avLst/>
          </a:prstGeom>
          <a:solidFill>
            <a:srgbClr val="F5F8FC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7C8316-BC5F-0C41-271E-2A29171E226B}"/>
              </a:ext>
            </a:extLst>
          </p:cNvPr>
          <p:cNvSpPr txBox="1"/>
          <p:nvPr/>
        </p:nvSpPr>
        <p:spPr>
          <a:xfrm>
            <a:off x="11285616" y="6309360"/>
            <a:ext cx="41870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>
                <a:solidFill>
                  <a:srgbClr val="FFFFFF"/>
                </a:solidFill>
              </a:defRPr>
            </a:pPr>
            <a:r>
              <a:rPr lang="en-IN" dirty="0"/>
              <a:t>13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9884F3-6978-BB1A-AC3A-D822726CD00F}"/>
              </a:ext>
            </a:extLst>
          </p:cNvPr>
          <p:cNvSpPr txBox="1"/>
          <p:nvPr/>
        </p:nvSpPr>
        <p:spPr>
          <a:xfrm>
            <a:off x="1091381" y="1420761"/>
            <a:ext cx="4336025" cy="41088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Immediate Actions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Disconnect from the internet.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 your password.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MFA.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 your IT department.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Scan your computer.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Contact your bank if financial information was shared.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your accounts.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30748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8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688FDA-F0E0-1FC6-E4D2-FF1D97E0A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58399FE-5E3C-897E-7A7D-C333006424D2}"/>
              </a:ext>
            </a:extLst>
          </p:cNvPr>
          <p:cNvSpPr/>
          <p:nvPr/>
        </p:nvSpPr>
        <p:spPr>
          <a:xfrm>
            <a:off x="0" y="0"/>
            <a:ext cx="12188952" cy="6000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Quiz</a:t>
            </a:r>
            <a:endParaRPr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077B95D-9120-CE0A-E54D-C919A8DAA785}"/>
              </a:ext>
            </a:extLst>
          </p:cNvPr>
          <p:cNvSpPr/>
          <p:nvPr/>
        </p:nvSpPr>
        <p:spPr>
          <a:xfrm>
            <a:off x="640080" y="1005840"/>
            <a:ext cx="10972800" cy="5120640"/>
          </a:xfrm>
          <a:prstGeom prst="roundRect">
            <a:avLst/>
          </a:prstGeom>
          <a:solidFill>
            <a:srgbClr val="F5F8FC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9C2298-50BE-C3A8-E946-3AB667F07291}"/>
              </a:ext>
            </a:extLst>
          </p:cNvPr>
          <p:cNvSpPr txBox="1"/>
          <p:nvPr/>
        </p:nvSpPr>
        <p:spPr>
          <a:xfrm>
            <a:off x="11285616" y="6309360"/>
            <a:ext cx="41870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>
                <a:solidFill>
                  <a:srgbClr val="FFFFFF"/>
                </a:solidFill>
              </a:defRPr>
            </a:pPr>
            <a:r>
              <a:rPr lang="en-IN" dirty="0"/>
              <a:t>14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75F5BE-2CF1-FDD2-6F2A-02549E7DA58D}"/>
              </a:ext>
            </a:extLst>
          </p:cNvPr>
          <p:cNvSpPr txBox="1"/>
          <p:nvPr/>
        </p:nvSpPr>
        <p:spPr>
          <a:xfrm>
            <a:off x="1406011" y="956998"/>
            <a:ext cx="10972799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1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of the following is a phishing indicator?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Correct company domain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Urgent request for password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Secure website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Official customer support</a:t>
            </a:r>
          </a:p>
          <a:p>
            <a:r>
              <a:rPr lang="en-IN" sz="1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Answer:</a:t>
            </a:r>
            <a:r>
              <a:rPr lang="en-IN" sz="1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</a:t>
            </a:r>
          </a:p>
          <a:p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2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Should you click unknown email links?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Yes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No</a:t>
            </a:r>
          </a:p>
          <a:p>
            <a:r>
              <a:rPr lang="en-IN" sz="1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Answer:</a:t>
            </a:r>
            <a:r>
              <a:rPr lang="en-IN" sz="1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</a:t>
            </a:r>
          </a:p>
          <a:p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3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is safer?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Same password everywhere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Strong unique passwords</a:t>
            </a:r>
          </a:p>
          <a:p>
            <a:r>
              <a:rPr lang="en-IN" sz="1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Answer:</a:t>
            </a:r>
            <a:r>
              <a:rPr lang="en-IN" sz="1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</a:t>
            </a:r>
          </a:p>
          <a:p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4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 or False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 always means a website is safe.</a:t>
            </a:r>
          </a:p>
          <a:p>
            <a:r>
              <a:rPr lang="en-IN" sz="1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Answer:</a:t>
            </a:r>
            <a:r>
              <a:rPr lang="en-IN" sz="1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False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848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8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F9ABE2-BABC-4F75-1EFF-6ACB1BCAD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34E9147-FCEC-D00F-34CE-4FDD4EDB3F5A}"/>
              </a:ext>
            </a:extLst>
          </p:cNvPr>
          <p:cNvSpPr/>
          <p:nvPr/>
        </p:nvSpPr>
        <p:spPr>
          <a:xfrm>
            <a:off x="0" y="0"/>
            <a:ext cx="12188952" cy="6000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Quick Security Checklist</a:t>
            </a:r>
            <a:endParaRPr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F44E511-A590-769D-AF79-3CB8DAA015BB}"/>
              </a:ext>
            </a:extLst>
          </p:cNvPr>
          <p:cNvSpPr/>
          <p:nvPr/>
        </p:nvSpPr>
        <p:spPr>
          <a:xfrm>
            <a:off x="433602" y="1005840"/>
            <a:ext cx="10972800" cy="5120640"/>
          </a:xfrm>
          <a:prstGeom prst="roundRect">
            <a:avLst/>
          </a:prstGeom>
          <a:solidFill>
            <a:srgbClr val="F5F8FC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6C65BB-2F50-7778-AFF5-26FF914F6A49}"/>
              </a:ext>
            </a:extLst>
          </p:cNvPr>
          <p:cNvSpPr txBox="1"/>
          <p:nvPr/>
        </p:nvSpPr>
        <p:spPr>
          <a:xfrm>
            <a:off x="11285616" y="6309360"/>
            <a:ext cx="41870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>
                <a:solidFill>
                  <a:srgbClr val="FFFFFF"/>
                </a:solidFill>
              </a:defRPr>
            </a:pPr>
            <a:r>
              <a:rPr lang="en-IN" dirty="0"/>
              <a:t>15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9B9DE6-327E-6B3A-38AF-EC7C3BB2E399}"/>
              </a:ext>
            </a:extLst>
          </p:cNvPr>
          <p:cNvSpPr txBox="1"/>
          <p:nvPr/>
        </p:nvSpPr>
        <p:spPr>
          <a:xfrm>
            <a:off x="982184" y="1331021"/>
            <a:ext cx="451792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Before clicking any link, ask yourself</a:t>
            </a:r>
            <a:r>
              <a:rPr lang="en-IN" dirty="0"/>
              <a:t>:</a:t>
            </a:r>
          </a:p>
          <a:p>
            <a:endParaRPr lang="en-IN" dirty="0"/>
          </a:p>
          <a:p>
            <a:pPr>
              <a:lnSpc>
                <a:spcPct val="150000"/>
              </a:lnSpc>
            </a:pPr>
            <a:r>
              <a:rPr lang="en-IN" dirty="0"/>
              <a:t>✔ Do I know the sender?</a:t>
            </a:r>
          </a:p>
          <a:p>
            <a:pPr>
              <a:lnSpc>
                <a:spcPct val="150000"/>
              </a:lnSpc>
            </a:pPr>
            <a:r>
              <a:rPr lang="en-IN" dirty="0"/>
              <a:t>✔ Is the URL correct?</a:t>
            </a:r>
          </a:p>
          <a:p>
            <a:pPr>
              <a:lnSpc>
                <a:spcPct val="150000"/>
              </a:lnSpc>
            </a:pPr>
            <a:r>
              <a:rPr lang="en-IN" dirty="0"/>
              <a:t>✔ Is the email asking for personal information?</a:t>
            </a:r>
          </a:p>
          <a:p>
            <a:pPr>
              <a:lnSpc>
                <a:spcPct val="150000"/>
              </a:lnSpc>
            </a:pPr>
            <a:r>
              <a:rPr lang="en-IN" dirty="0"/>
              <a:t>✔ Is there urgency?</a:t>
            </a:r>
          </a:p>
          <a:p>
            <a:pPr>
              <a:lnSpc>
                <a:spcPct val="150000"/>
              </a:lnSpc>
            </a:pPr>
            <a:r>
              <a:rPr lang="en-IN" dirty="0"/>
              <a:t>✔ Are there grammar mistakes?</a:t>
            </a:r>
          </a:p>
          <a:p>
            <a:pPr>
              <a:lnSpc>
                <a:spcPct val="150000"/>
              </a:lnSpc>
            </a:pPr>
            <a:r>
              <a:rPr lang="en-IN" dirty="0"/>
              <a:t>✔ Does the message seem suspicious?</a:t>
            </a:r>
          </a:p>
          <a:p>
            <a:pPr>
              <a:lnSpc>
                <a:spcPct val="150000"/>
              </a:lnSpc>
            </a:pPr>
            <a:r>
              <a:rPr lang="en-IN" dirty="0"/>
              <a:t>If yes, </a:t>
            </a:r>
            <a:r>
              <a:rPr lang="en-IN" b="1" dirty="0"/>
              <a:t>don't click.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477144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8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455325-CEDC-DE0D-81C5-91E624557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9BA1347-A5DC-4172-8532-033158551434}"/>
              </a:ext>
            </a:extLst>
          </p:cNvPr>
          <p:cNvSpPr/>
          <p:nvPr/>
        </p:nvSpPr>
        <p:spPr>
          <a:xfrm>
            <a:off x="0" y="0"/>
            <a:ext cx="12188952" cy="6000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Takeaways</a:t>
            </a:r>
            <a:endParaRPr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1B261A9-6DAF-34D9-4E3A-757BF64509A7}"/>
              </a:ext>
            </a:extLst>
          </p:cNvPr>
          <p:cNvSpPr/>
          <p:nvPr/>
        </p:nvSpPr>
        <p:spPr>
          <a:xfrm>
            <a:off x="423770" y="1005840"/>
            <a:ext cx="10972800" cy="5120640"/>
          </a:xfrm>
          <a:prstGeom prst="roundRect">
            <a:avLst/>
          </a:prstGeom>
          <a:solidFill>
            <a:srgbClr val="F5F8FC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0BD39F-82A4-EF30-7480-AB4D82E8BF5D}"/>
              </a:ext>
            </a:extLst>
          </p:cNvPr>
          <p:cNvSpPr txBox="1"/>
          <p:nvPr/>
        </p:nvSpPr>
        <p:spPr>
          <a:xfrm>
            <a:off x="11285616" y="6309360"/>
            <a:ext cx="41870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>
                <a:solidFill>
                  <a:srgbClr val="FFFFFF"/>
                </a:solidFill>
              </a:defRPr>
            </a:pPr>
            <a:r>
              <a:rPr lang="en-IN" dirty="0"/>
              <a:t>16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DB82B9-31BC-F20C-03B2-2FCEC799F3BF}"/>
              </a:ext>
            </a:extLst>
          </p:cNvPr>
          <p:cNvSpPr txBox="1"/>
          <p:nvPr/>
        </p:nvSpPr>
        <p:spPr>
          <a:xfrm>
            <a:off x="883315" y="1345467"/>
            <a:ext cx="5211097" cy="41088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Think before you click.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Verify every email.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website URLs carefully.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Never share passwords or OTPs.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Multi-Factor Authentication.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 phishing attempts immediately.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Remember: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"Stop • Think • Verify • Click"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438762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8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DBEBD0-97AE-0C95-BF25-9EF29A898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F4C8AC3-D6AA-9466-53BC-A04E306DD783}"/>
              </a:ext>
            </a:extLst>
          </p:cNvPr>
          <p:cNvSpPr/>
          <p:nvPr/>
        </p:nvSpPr>
        <p:spPr>
          <a:xfrm>
            <a:off x="0" y="0"/>
            <a:ext cx="12188952" cy="6000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D27E3CE-2DAD-C9BD-C872-F62D9C4CC711}"/>
              </a:ext>
            </a:extLst>
          </p:cNvPr>
          <p:cNvSpPr/>
          <p:nvPr/>
        </p:nvSpPr>
        <p:spPr>
          <a:xfrm>
            <a:off x="640080" y="1005840"/>
            <a:ext cx="10972800" cy="5120640"/>
          </a:xfrm>
          <a:prstGeom prst="roundRect">
            <a:avLst/>
          </a:prstGeom>
          <a:solidFill>
            <a:srgbClr val="F5F8FC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624DDE-3503-4B8C-250D-36A4EBC48E46}"/>
              </a:ext>
            </a:extLst>
          </p:cNvPr>
          <p:cNvSpPr txBox="1"/>
          <p:nvPr/>
        </p:nvSpPr>
        <p:spPr>
          <a:xfrm>
            <a:off x="11285616" y="6309360"/>
            <a:ext cx="41870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>
                <a:solidFill>
                  <a:srgbClr val="FFFFFF"/>
                </a:solidFill>
              </a:defRPr>
            </a:pPr>
            <a:r>
              <a:rPr lang="en-IN" dirty="0"/>
              <a:t>17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E26051-59B7-A8F9-857A-804416183496}"/>
              </a:ext>
            </a:extLst>
          </p:cNvPr>
          <p:cNvSpPr txBox="1"/>
          <p:nvPr/>
        </p:nvSpPr>
        <p:spPr>
          <a:xfrm>
            <a:off x="875071" y="1764096"/>
            <a:ext cx="6184489" cy="27847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IN" dirty="0"/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National Institute of Standards and Technology (NIST)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Cybersecurity and Infrastructure Security Agency (CISA)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Microsoft Security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Google Safety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Center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OWASP Phishing Awareness Resources</a:t>
            </a:r>
          </a:p>
        </p:txBody>
      </p:sp>
    </p:spTree>
    <p:extLst>
      <p:ext uri="{BB962C8B-B14F-4D97-AF65-F5344CB8AC3E}">
        <p14:creationId xmlns:p14="http://schemas.microsoft.com/office/powerpoint/2010/main" val="6966474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8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D766D0-73CB-D379-F7D8-AD1BD0139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7CBCD96-32B4-67A3-FCF0-2D11ECD0DB8D}"/>
              </a:ext>
            </a:extLst>
          </p:cNvPr>
          <p:cNvSpPr/>
          <p:nvPr/>
        </p:nvSpPr>
        <p:spPr>
          <a:xfrm>
            <a:off x="640080" y="1005840"/>
            <a:ext cx="10972800" cy="5120640"/>
          </a:xfrm>
          <a:prstGeom prst="roundRect">
            <a:avLst/>
          </a:prstGeom>
          <a:solidFill>
            <a:srgbClr val="F5F8FC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4283FB-234D-CEC0-3420-6BAD8FD5AE1C}"/>
              </a:ext>
            </a:extLst>
          </p:cNvPr>
          <p:cNvSpPr txBox="1"/>
          <p:nvPr/>
        </p:nvSpPr>
        <p:spPr>
          <a:xfrm>
            <a:off x="11285616" y="6309360"/>
            <a:ext cx="41870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>
                <a:solidFill>
                  <a:srgbClr val="FFFFFF"/>
                </a:solidFill>
              </a:defRPr>
            </a:pPr>
            <a:r>
              <a:rPr lang="en-IN" dirty="0"/>
              <a:t>18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B4CDE4-7968-A2CE-5F84-7B121A150043}"/>
              </a:ext>
            </a:extLst>
          </p:cNvPr>
          <p:cNvSpPr txBox="1"/>
          <p:nvPr/>
        </p:nvSpPr>
        <p:spPr>
          <a:xfrm>
            <a:off x="4926831" y="2050026"/>
            <a:ext cx="23351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47AADD-7699-92EF-BF8C-3FB6ED384C2D}"/>
              </a:ext>
            </a:extLst>
          </p:cNvPr>
          <p:cNvSpPr txBox="1"/>
          <p:nvPr/>
        </p:nvSpPr>
        <p:spPr>
          <a:xfrm>
            <a:off x="4640826" y="2974258"/>
            <a:ext cx="3283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Stay Safe Online.</a:t>
            </a:r>
          </a:p>
        </p:txBody>
      </p:sp>
    </p:spTree>
    <p:extLst>
      <p:ext uri="{BB962C8B-B14F-4D97-AF65-F5344CB8AC3E}">
        <p14:creationId xmlns:p14="http://schemas.microsoft.com/office/powerpoint/2010/main" val="6975513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889</Words>
  <Application>Microsoft Office PowerPoint</Application>
  <PresentationFormat>Custom</PresentationFormat>
  <Paragraphs>231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karishma rajora</dc:creator>
  <cp:keywords/>
  <dc:description>generated using python-pptx</dc:description>
  <cp:lastModifiedBy>karishma rajora</cp:lastModifiedBy>
  <cp:revision>3</cp:revision>
  <dcterms:created xsi:type="dcterms:W3CDTF">2013-01-27T09:14:16Z</dcterms:created>
  <dcterms:modified xsi:type="dcterms:W3CDTF">2026-07-09T10:36:57Z</dcterms:modified>
  <cp:category/>
</cp:coreProperties>
</file>